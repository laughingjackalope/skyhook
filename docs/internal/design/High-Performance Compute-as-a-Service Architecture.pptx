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095991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088847" y="0"/>
            <a:ext cx="7144" cy="5143500"/>
          </a:xfrm>
          <a:prstGeom prst="rect">
            <a:avLst/>
          </a:prstGeom>
          <a:solidFill>
            <a:srgbClr val="E8E9F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136945"/>
            <a:ext cx="52387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FF6B6B"/>
                </a:solidFill>
              </a:rPr>
              <a:t>Architectural Report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8625" y="1454841"/>
            <a:ext cx="5238741" cy="169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731" b="1" spc="-1" kern="0" dirty="0">
                <a:solidFill>
                  <a:srgbClr val="1A237E"/>
                </a:solidFill>
              </a:rPr>
              <a:t>High-Performance Compute-as-a-Service Architecture</a:t>
            </a:r>
            <a:endParaRPr lang="en-US" sz="3731" dirty="0"/>
          </a:p>
        </p:txBody>
      </p:sp>
      <p:sp>
        <p:nvSpPr>
          <p:cNvPr id="7" name="Text 4"/>
          <p:cNvSpPr/>
          <p:nvPr/>
        </p:nvSpPr>
        <p:spPr>
          <a:xfrm>
            <a:off x="428625" y="3366492"/>
            <a:ext cx="4714847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2C3E50"/>
                </a:solidFill>
              </a:rPr>
              <a:t>SkyPilot on EKS: Technology Stack for Maximum Researcher Experience</a:t>
            </a:r>
            <a:endParaRPr lang="en-US" sz="1704" dirty="0"/>
          </a:p>
        </p:txBody>
      </p:sp>
      <p:sp>
        <p:nvSpPr>
          <p:cNvPr id="8" name="Shape 5"/>
          <p:cNvSpPr/>
          <p:nvPr/>
        </p:nvSpPr>
        <p:spPr>
          <a:xfrm>
            <a:off x="6095991" y="0"/>
            <a:ext cx="3047981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9" name="Text 6"/>
          <p:cNvSpPr/>
          <p:nvPr/>
        </p:nvSpPr>
        <p:spPr>
          <a:xfrm>
            <a:off x="6381741" y="571500"/>
            <a:ext cx="2476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F6B6B">
                    <a:alpha val="70000"/>
                  </a:srgbClr>
                </a:solidFill>
              </a:rPr>
              <a:t>Platform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6381741" y="764381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SkyPilot on EKS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381741" y="1284089"/>
            <a:ext cx="2476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F6B6B">
                    <a:alpha val="70000"/>
                  </a:srgbClr>
                </a:solidFill>
              </a:rPr>
              <a:t>Focus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6381741" y="1476970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Researcher Experience (RX)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6381741" y="1996678"/>
            <a:ext cx="2476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F6B6B">
                    <a:alpha val="70000"/>
                  </a:srgbClr>
                </a:solidFill>
              </a:rPr>
              <a:t>Date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381741" y="2189559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December 2025</a:t>
            </a:r>
            <a:endParaRPr lang="en-US" sz="119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2805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572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5723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237E"/>
                </a:solidFill>
              </a:rPr>
              <a:t>The Challenge: Bridging the Abstraction Gap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51905"/>
            <a:ext cx="8072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Standard Kubernetes Patterns vs. Deep Learning Workloads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1314450"/>
            <a:ext cx="3929063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237E"/>
                </a:solidFill>
              </a:rPr>
              <a:t>General-purpose Kubernetes prioritizes resilience over the raw throughput required for HPC.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428625" y="216307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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07219" y="2143432"/>
            <a:ext cx="8058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Networking: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607219" y="2143432"/>
            <a:ext cx="2897879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TCP is insufficient for LLM training synchronization (NCCL).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28625" y="2591702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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07219" y="2572057"/>
            <a:ext cx="5337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Storage: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607219" y="2572057"/>
            <a:ext cx="347484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Standard EBS volumes starve expensive GPUs of data.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28625" y="302032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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07219" y="3000682"/>
            <a:ext cx="5210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Startup: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1128266" y="3000682"/>
            <a:ext cx="279884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Default image pulls cause 5-10 minute delays.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28625" y="3256071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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607219" y="3236426"/>
            <a:ext cx="89754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Observability: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607219" y="3236426"/>
            <a:ext cx="356202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Generic logging obscures job history across retries.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428625" y="3756134"/>
            <a:ext cx="3929063" cy="955784"/>
          </a:xfrm>
          <a:prstGeom prst="rect">
            <a:avLst/>
          </a:prstGeom>
          <a:solidFill>
            <a:srgbClr val="1A237E">
              <a:alpha val="5000"/>
            </a:srgbClr>
          </a:solidFill>
          <a:ln w="9144">
            <a:solidFill>
              <a:srgbClr val="1A237E">
                <a:alpha val="1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8638" y="3856146"/>
            <a:ext cx="37290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A237E"/>
                </a:solidFill>
              </a:rPr>
              <a:t>Researcher Experience (RX)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528638" y="4049027"/>
            <a:ext cx="372903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2C3E50"/>
                </a:solidFill>
              </a:rPr>
              <a:t>"Minimization of infrastructure friction—latency in job startup, complexity in data access, and opacity in failure recovery—while maximizing computational throughput."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428625" y="3756134"/>
            <a:ext cx="28575" cy="941496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4" name="Shape 21"/>
          <p:cNvSpPr/>
          <p:nvPr/>
        </p:nvSpPr>
        <p:spPr>
          <a:xfrm>
            <a:off x="4786313" y="1314450"/>
            <a:ext cx="3929063" cy="3383180"/>
          </a:xfrm>
          <a:prstGeom prst="rect">
            <a:avLst/>
          </a:prstGeom>
          <a:solidFill>
            <a:srgbClr val="FAFAFA"/>
          </a:solidFill>
          <a:ln w="9144">
            <a:solidFill>
              <a:srgbClr val="BDC3C7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7041533" y="1385888"/>
            <a:ext cx="16024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5A5A6"/>
                </a:solidFill>
              </a:rPr>
              <a:t>System Architecture Overview</a:t>
            </a:r>
            <a:endParaRPr lang="en-US" sz="621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8" y="1821963"/>
            <a:ext cx="3643313" cy="2368153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28625" y="4826217"/>
            <a:ext cx="8286750" cy="17323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428625" y="4826217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9" name="Text 25"/>
          <p:cNvSpPr/>
          <p:nvPr/>
        </p:nvSpPr>
        <p:spPr>
          <a:xfrm>
            <a:off x="428625" y="4876223"/>
            <a:ext cx="16415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High-Performance Compute-as-a-Service</a:t>
            </a:r>
            <a:endParaRPr lang="en-US" sz="621" dirty="0"/>
          </a:p>
        </p:txBody>
      </p:sp>
      <p:sp>
        <p:nvSpPr>
          <p:cNvPr id="30" name="Text 26"/>
          <p:cNvSpPr/>
          <p:nvPr/>
        </p:nvSpPr>
        <p:spPr>
          <a:xfrm>
            <a:off x="8451670" y="4876223"/>
            <a:ext cx="2637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Slide 2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6675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7152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237E"/>
                </a:solidFill>
              </a:rPr>
              <a:t>Storage Architecture: The Storage Trilemma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66192"/>
            <a:ext cx="8072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Balancing POSIX Compliance, Throughput, and Cost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00075" y="1357313"/>
            <a:ext cx="27289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Mountpoint for S3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600075" y="1601986"/>
            <a:ext cx="27289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Cost-effective but lacks full POSIX support. Slow metadata operations.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600075" y="1972010"/>
            <a:ext cx="27289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The "Easy Way"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00075" y="2250616"/>
            <a:ext cx="27289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FSx for Lustre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600075" y="2495290"/>
            <a:ext cx="27289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Full POSIX, 1200 Gbps throughput, native S3 integration.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600075" y="2865313"/>
            <a:ext cx="27289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The "High-Performance Way"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600075" y="3143920"/>
            <a:ext cx="27289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NVMe Instance Stores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600075" y="3388593"/>
            <a:ext cx="27289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Ephemeral, microsecond latency. Requires boot-time formatting.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600075" y="3758617"/>
            <a:ext cx="27289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Local Caching Layer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428625" y="4037223"/>
            <a:ext cx="2900363" cy="71471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7" name="Text 14"/>
          <p:cNvSpPr/>
          <p:nvPr/>
        </p:nvSpPr>
        <p:spPr>
          <a:xfrm>
            <a:off x="542925" y="4151523"/>
            <a:ext cx="2671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FFFFFF">
                    <a:alpha val="70000"/>
                  </a:srgbClr>
                </a:solidFill>
              </a:rPr>
              <a:t>Key Decision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542925" y="4303328"/>
            <a:ext cx="2671763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FSx for Lustre Scratch + Automated NVMe RAID0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3743325" y="1357313"/>
            <a:ext cx="4972050" cy="3514725"/>
          </a:xfrm>
          <a:prstGeom prst="rect">
            <a:avLst/>
          </a:prstGeom>
          <a:solidFill>
            <a:srgbClr val="FAFAFA"/>
          </a:solidFill>
          <a:ln w="9144">
            <a:solidFill>
              <a:srgbClr val="BDC3C7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7609796" y="1428750"/>
            <a:ext cx="103414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5A5A6"/>
                </a:solidFill>
              </a:rPr>
              <a:t>Decision Logic Tree</a:t>
            </a:r>
            <a:endParaRPr lang="en-US" sz="621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403" y="1500188"/>
            <a:ext cx="1897893" cy="321468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28625" y="5014913"/>
            <a:ext cx="8286750" cy="266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428625" y="5014913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0"/>
          <p:cNvSpPr/>
          <p:nvPr/>
        </p:nvSpPr>
        <p:spPr>
          <a:xfrm>
            <a:off x="428625" y="5157788"/>
            <a:ext cx="16415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High-Performance Compute-as-a-Service</a:t>
            </a:r>
            <a:endParaRPr lang="en-US" sz="621" dirty="0"/>
          </a:p>
        </p:txBody>
      </p:sp>
      <p:sp>
        <p:nvSpPr>
          <p:cNvPr id="25" name="Text 21"/>
          <p:cNvSpPr/>
          <p:nvPr/>
        </p:nvSpPr>
        <p:spPr>
          <a:xfrm>
            <a:off x="8451670" y="5157788"/>
            <a:ext cx="2637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Slide 3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28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7152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237E"/>
                </a:solidFill>
              </a:rPr>
              <a:t>Storage Data Flow: From S3 to GPU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66192"/>
            <a:ext cx="8072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FSx Lazy-Loading with NVMe Caching Eliminates I/O Bottlenecks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1343025"/>
            <a:ext cx="8286750" cy="1857375"/>
          </a:xfrm>
          <a:prstGeom prst="rect">
            <a:avLst/>
          </a:prstGeom>
          <a:solidFill>
            <a:srgbClr val="FAFAFA"/>
          </a:solidFill>
          <a:ln w="9144">
            <a:solidFill>
              <a:srgbClr val="BDC3C7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386917" y="1414463"/>
            <a:ext cx="125702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5A5A6"/>
                </a:solidFill>
              </a:rPr>
              <a:t>Data Flow Architecture</a:t>
            </a:r>
            <a:endParaRPr lang="en-US" sz="621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913" y="2194024"/>
            <a:ext cx="1582145" cy="15537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8625" y="3343275"/>
            <a:ext cx="8286750" cy="131623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428625" y="3343275"/>
            <a:ext cx="8286750" cy="142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Text 8"/>
          <p:cNvSpPr/>
          <p:nvPr/>
        </p:nvSpPr>
        <p:spPr>
          <a:xfrm>
            <a:off x="428625" y="3486150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6B6B"/>
                </a:solidFill>
              </a:rPr>
              <a:t>Stage 01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428625" y="3693319"/>
            <a:ext cx="2571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Initial Access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428625" y="3959423"/>
            <a:ext cx="2571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FSx lazy-loads data from S3 on first access.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Metadata servers coordinate parallel I/O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streams via EFA, achieving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1200 Gbps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 throughput.</a:t>
            </a:r>
            <a:endParaRPr lang="en-US" sz="834" dirty="0"/>
          </a:p>
        </p:txBody>
      </p:sp>
      <p:sp>
        <p:nvSpPr>
          <p:cNvPr id="15" name="Text 11"/>
          <p:cNvSpPr/>
          <p:nvPr/>
        </p:nvSpPr>
        <p:spPr>
          <a:xfrm>
            <a:off x="3286125" y="3486150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6B6B"/>
                </a:solidFill>
              </a:rPr>
              <a:t>Stage 02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3286125" y="3693319"/>
            <a:ext cx="2571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Active Training</a:t>
            </a:r>
            <a:endParaRPr lang="en-US" sz="987" dirty="0"/>
          </a:p>
        </p:txBody>
      </p:sp>
      <p:sp>
        <p:nvSpPr>
          <p:cNvPr id="17" name="Text 13"/>
          <p:cNvSpPr/>
          <p:nvPr/>
        </p:nvSpPr>
        <p:spPr>
          <a:xfrm>
            <a:off x="3286125" y="3959423"/>
            <a:ext cx="2571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Pods mount FSx as standard POSIX filesystem.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Hot data sits in RAM page cache; overflow goes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to local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NVMe RAID0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 scratch space.</a:t>
            </a:r>
            <a:endParaRPr lang="en-US" sz="834" dirty="0"/>
          </a:p>
        </p:txBody>
      </p:sp>
      <p:sp>
        <p:nvSpPr>
          <p:cNvPr id="18" name="Text 14"/>
          <p:cNvSpPr/>
          <p:nvPr/>
        </p:nvSpPr>
        <p:spPr>
          <a:xfrm>
            <a:off x="6143625" y="3486150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6B6B"/>
                </a:solidFill>
              </a:rPr>
              <a:t>Stage 03</a:t>
            </a:r>
            <a:endParaRPr lang="en-US" sz="683" dirty="0"/>
          </a:p>
        </p:txBody>
      </p:sp>
      <p:sp>
        <p:nvSpPr>
          <p:cNvPr id="19" name="Text 15"/>
          <p:cNvSpPr/>
          <p:nvPr/>
        </p:nvSpPr>
        <p:spPr>
          <a:xfrm>
            <a:off x="6143625" y="3693319"/>
            <a:ext cx="2571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Checkpoint Persistence</a:t>
            </a:r>
            <a:endParaRPr lang="en-US" sz="987" dirty="0"/>
          </a:p>
        </p:txBody>
      </p:sp>
      <p:sp>
        <p:nvSpPr>
          <p:cNvPr id="20" name="Text 16"/>
          <p:cNvSpPr/>
          <p:nvPr/>
        </p:nvSpPr>
        <p:spPr>
          <a:xfrm>
            <a:off x="6143625" y="3959423"/>
            <a:ext cx="2571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MOUNT_CACHED mode writes checkpoints to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local NVMe at GB/s, then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asynchronously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uploads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 to S3, unblocking the GPU.</a:t>
            </a:r>
            <a:endParaRPr lang="en-US" sz="834" dirty="0"/>
          </a:p>
        </p:txBody>
      </p:sp>
      <p:sp>
        <p:nvSpPr>
          <p:cNvPr id="21" name="Shape 17"/>
          <p:cNvSpPr/>
          <p:nvPr/>
        </p:nvSpPr>
        <p:spPr>
          <a:xfrm>
            <a:off x="428625" y="4788098"/>
            <a:ext cx="8286750" cy="266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428625" y="4788098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19"/>
          <p:cNvSpPr/>
          <p:nvPr/>
        </p:nvSpPr>
        <p:spPr>
          <a:xfrm>
            <a:off x="428625" y="4930973"/>
            <a:ext cx="16415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High-Performance Compute-as-a-Service</a:t>
            </a:r>
            <a:endParaRPr lang="en-US" sz="621" dirty="0"/>
          </a:p>
        </p:txBody>
      </p:sp>
      <p:sp>
        <p:nvSpPr>
          <p:cNvPr id="24" name="Text 20"/>
          <p:cNvSpPr/>
          <p:nvPr/>
        </p:nvSpPr>
        <p:spPr>
          <a:xfrm>
            <a:off x="8451670" y="4930973"/>
            <a:ext cx="2637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Slide 4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2391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7152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237E"/>
                </a:solidFill>
              </a:rPr>
              <a:t>High-Performance Networking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66192"/>
            <a:ext cx="8072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EFA and OS-Bypass: Reducing Latency by 10x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578769"/>
            <a:ext cx="160734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0797" y="1535906"/>
            <a:ext cx="101605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SRD Protocol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428625" y="1821656"/>
            <a:ext cx="3314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Scalable Reliable Datagram (SRD) sprays packets across all network paths (ECMP) to utilize full bandwidth, unlike TCP's single path.</a:t>
            </a:r>
            <a:endParaRPr lang="en-US" sz="834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714625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8650" y="2671763"/>
            <a:ext cx="8177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OS-Bypass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428625" y="2957513"/>
            <a:ext cx="3314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Bypasses the kernel TCP/IP stack. Enables zero-copy data transfer directly from GPU memory to the network interface.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428625" y="3586163"/>
            <a:ext cx="3314700" cy="63579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4" name="Text 9"/>
          <p:cNvSpPr/>
          <p:nvPr/>
        </p:nvSpPr>
        <p:spPr>
          <a:xfrm>
            <a:off x="571500" y="3729038"/>
            <a:ext cx="115910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6B6B"/>
                </a:solidFill>
              </a:rPr>
              <a:t>400 Gbps</a:t>
            </a:r>
            <a:endParaRPr lang="en-US" sz="1808" dirty="0"/>
          </a:p>
        </p:txBody>
      </p:sp>
      <p:sp>
        <p:nvSpPr>
          <p:cNvPr id="15" name="Text 10"/>
          <p:cNvSpPr/>
          <p:nvPr/>
        </p:nvSpPr>
        <p:spPr>
          <a:xfrm>
            <a:off x="2789272" y="3768328"/>
            <a:ext cx="81117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FFFFF"/>
                </a:solidFill>
              </a:rPr>
              <a:t>Throughput</a:t>
            </a:r>
            <a:pPr algn="r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FFFFF"/>
                </a:solidFill>
              </a:rPr>
              <a:t>
</a:t>
            </a:r>
            <a:pPr algn="r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FFFFF"/>
                </a:solidFill>
              </a:rPr>
              <a:t>Per Interface</a:t>
            </a:r>
            <a:endParaRPr lang="en-US" sz="727" dirty="0"/>
          </a:p>
        </p:txBody>
      </p:sp>
      <p:sp>
        <p:nvSpPr>
          <p:cNvPr id="16" name="Shape 11"/>
          <p:cNvSpPr/>
          <p:nvPr/>
        </p:nvSpPr>
        <p:spPr>
          <a:xfrm>
            <a:off x="4157663" y="1414463"/>
            <a:ext cx="4557713" cy="3514725"/>
          </a:xfrm>
          <a:prstGeom prst="rect">
            <a:avLst/>
          </a:prstGeom>
          <a:solidFill>
            <a:srgbClr val="FAFAFA"/>
          </a:solidFill>
          <a:ln w="9144">
            <a:solidFill>
              <a:srgbClr val="BDC3C7"/>
            </a:solidFill>
            <a:prstDash val="dash"/>
          </a:ln>
        </p:spPr>
      </p:sp>
      <p:sp>
        <p:nvSpPr>
          <p:cNvPr id="17" name="Text 12"/>
          <p:cNvSpPr/>
          <p:nvPr/>
        </p:nvSpPr>
        <p:spPr>
          <a:xfrm>
            <a:off x="7205114" y="1485900"/>
            <a:ext cx="14388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5A5A6"/>
                </a:solidFill>
              </a:rPr>
              <a:t>Network Stack Comparison</a:t>
            </a:r>
            <a:endParaRPr lang="en-US" sz="621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424" y="1557338"/>
            <a:ext cx="1160162" cy="321468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8625" y="5129213"/>
            <a:ext cx="8286750" cy="266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428625" y="5129213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5"/>
          <p:cNvSpPr/>
          <p:nvPr/>
        </p:nvSpPr>
        <p:spPr>
          <a:xfrm>
            <a:off x="428625" y="5272088"/>
            <a:ext cx="16415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High-Performance Compute-as-a-Service</a:t>
            </a:r>
            <a:endParaRPr lang="en-US" sz="621" dirty="0"/>
          </a:p>
        </p:txBody>
      </p:sp>
      <p:sp>
        <p:nvSpPr>
          <p:cNvPr id="22" name="Text 16"/>
          <p:cNvSpPr/>
          <p:nvPr/>
        </p:nvSpPr>
        <p:spPr>
          <a:xfrm>
            <a:off x="8451670" y="5272088"/>
            <a:ext cx="2637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Slide 5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9004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12376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123765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237E"/>
                </a:solidFill>
              </a:rPr>
              <a:t>Automated Configuration: Kyverno Policy Engine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1432322"/>
            <a:ext cx="8072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Preventing Silent Performance Degradation via Policy-as-Code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00075" y="1880592"/>
            <a:ext cx="3143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1A237E"/>
                </a:solidFill>
              </a:rPr>
              <a:t>The Silent Failure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600075" y="2127052"/>
            <a:ext cx="31432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Without specific environment variables, NCCL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silently falls back to TCP, running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10x slower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 than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EFA.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2920008"/>
            <a:ext cx="33147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1A237E"/>
                </a:solidFill>
              </a:rPr>
              <a:t>Auto-Injection Logic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28625" y="3166467"/>
            <a:ext cx="33147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Kyverno detects pods requesting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vpc.amazonaws.com/efa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 and injects: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28625" y="3659386"/>
            <a:ext cx="3314700" cy="1031491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8625" y="3659386"/>
            <a:ext cx="3314700" cy="10314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FI_PROVIDER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35400"/>
                </a:solidFill>
              </a:rPr>
              <a:t>efa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FI_EFA_USE_DEVICE_RDMA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35400"/>
                </a:solidFill>
              </a:rPr>
              <a:t>1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NCCL_DEBUG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35400"/>
                </a:solidFill>
              </a:rPr>
              <a:t>INFO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NCCL_PROTO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35400"/>
                </a:solidFill>
              </a:rPr>
              <a:t>simple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157663" y="1880592"/>
            <a:ext cx="4557713" cy="3514725"/>
          </a:xfrm>
          <a:prstGeom prst="rect">
            <a:avLst/>
          </a:prstGeom>
          <a:solidFill>
            <a:srgbClr val="FAFAFA"/>
          </a:solidFill>
          <a:ln w="9144">
            <a:solidFill>
              <a:srgbClr val="BDC3C7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7331776" y="1952030"/>
            <a:ext cx="13121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5A5A6"/>
                </a:solidFill>
              </a:rPr>
              <a:t>Admission Control Flow</a:t>
            </a:r>
            <a:endParaRPr lang="en-US" sz="621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761" y="2023467"/>
            <a:ext cx="1681516" cy="321468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28625" y="5595342"/>
            <a:ext cx="8286750" cy="266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28625" y="5595342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4"/>
          <p:cNvSpPr/>
          <p:nvPr/>
        </p:nvSpPr>
        <p:spPr>
          <a:xfrm>
            <a:off x="428625" y="5738217"/>
            <a:ext cx="16415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High-Performance Compute-as-a-Service</a:t>
            </a:r>
            <a:endParaRPr lang="en-US" sz="621" dirty="0"/>
          </a:p>
        </p:txBody>
      </p:sp>
      <p:sp>
        <p:nvSpPr>
          <p:cNvPr id="19" name="Text 15"/>
          <p:cNvSpPr/>
          <p:nvPr/>
        </p:nvSpPr>
        <p:spPr>
          <a:xfrm>
            <a:off x="8451670" y="5738217"/>
            <a:ext cx="2637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Slide 6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667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7152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237E"/>
                </a:solidFill>
              </a:rPr>
              <a:t>Cluster Placement Groups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66192"/>
            <a:ext cx="8072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Minimizing Physical Latency for Distributed Training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1535906"/>
            <a:ext cx="3314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95A5A6"/>
                </a:solidFill>
              </a:rPr>
              <a:t>Network Latency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1707356"/>
            <a:ext cx="33147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FF6B6B"/>
                </a:solidFill>
              </a:rPr>
              <a:t>10-20 μs</a:t>
            </a:r>
            <a:endParaRPr lang="en-US" sz="2121" dirty="0"/>
          </a:p>
        </p:txBody>
      </p:sp>
      <p:sp>
        <p:nvSpPr>
          <p:cNvPr id="9" name="Text 6"/>
          <p:cNvSpPr/>
          <p:nvPr/>
        </p:nvSpPr>
        <p:spPr>
          <a:xfrm>
            <a:off x="428625" y="2043113"/>
            <a:ext cx="33147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Within Placement Group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(vs. 100-500 μs scattered)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28625" y="2689622"/>
            <a:ext cx="3314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95A5A6"/>
                </a:solidFill>
              </a:rPr>
              <a:t>GPU Utilization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28625" y="2861072"/>
            <a:ext cx="33147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90%</a:t>
            </a:r>
            <a:endParaRPr lang="en-US" sz="2121" dirty="0"/>
          </a:p>
        </p:txBody>
      </p:sp>
      <p:sp>
        <p:nvSpPr>
          <p:cNvPr id="12" name="Text 9"/>
          <p:cNvSpPr/>
          <p:nvPr/>
        </p:nvSpPr>
        <p:spPr>
          <a:xfrm>
            <a:off x="428625" y="3196828"/>
            <a:ext cx="33147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Effective Compute Time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(vs. 60-70% without CPG)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28625" y="3721894"/>
            <a:ext cx="3314700" cy="1350169"/>
          </a:xfrm>
          <a:prstGeom prst="rect">
            <a:avLst/>
          </a:prstGeom>
          <a:solidFill>
            <a:srgbClr val="1A237E">
              <a:alpha val="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28625" y="3721894"/>
            <a:ext cx="28575" cy="1350169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3864769"/>
            <a:ext cx="30289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The Karpenter Workaround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71500" y="4071938"/>
            <a:ext cx="30289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Karpenter lacks native dynamic placement group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support.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Solution: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 Use pre-provisioned groups referenced via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Launch Templates in the EC2NodeClass.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4157663" y="1414463"/>
            <a:ext cx="4557713" cy="3657600"/>
          </a:xfrm>
          <a:prstGeom prst="rect">
            <a:avLst/>
          </a:prstGeom>
          <a:solidFill>
            <a:srgbClr val="FAFAFA"/>
          </a:solidFill>
          <a:ln w="9144">
            <a:solidFill>
              <a:srgbClr val="BDC3C7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6737728" y="1485900"/>
            <a:ext cx="19062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5A5A6"/>
                </a:solidFill>
              </a:rPr>
              <a:t>Physical Topology &amp; Configuration</a:t>
            </a:r>
            <a:endParaRPr lang="en-US" sz="621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810" y="3165574"/>
            <a:ext cx="1623417" cy="155377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28625" y="5286375"/>
            <a:ext cx="8286750" cy="266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428625" y="5286375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8"/>
          <p:cNvSpPr/>
          <p:nvPr/>
        </p:nvSpPr>
        <p:spPr>
          <a:xfrm>
            <a:off x="428625" y="5429250"/>
            <a:ext cx="16415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High-Performance Compute-as-a-Service</a:t>
            </a:r>
            <a:endParaRPr lang="en-US" sz="621" dirty="0"/>
          </a:p>
        </p:txBody>
      </p:sp>
      <p:sp>
        <p:nvSpPr>
          <p:cNvPr id="23" name="Text 19"/>
          <p:cNvSpPr/>
          <p:nvPr/>
        </p:nvSpPr>
        <p:spPr>
          <a:xfrm>
            <a:off x="8451670" y="5429250"/>
            <a:ext cx="2637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Slide 7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323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7152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237E"/>
                </a:solidFill>
              </a:rPr>
              <a:t>Observability: User-Centric Logging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66192"/>
            <a:ext cx="8072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Bridging the Gap Between Scheduler Task IDs and Kubernetes Pod UIDs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1414463"/>
            <a:ext cx="3314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6B6B"/>
                </a:solidFill>
              </a:rPr>
              <a:t>The Observability Chasm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28625" y="1621631"/>
            <a:ext cx="3314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Researchers think in "Tasks" (sky-job-123).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 Kubernetes thinks in "Pods" (pod-abcde).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28625" y="2093119"/>
            <a:ext cx="3314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Default logging scatters job history across multiple pod streams, making debugging retries nearly impossible.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28625" y="2764631"/>
            <a:ext cx="3314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5A5A6"/>
                </a:solidFill>
              </a:rPr>
              <a:t>Fluent Bit Solution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3000375"/>
            <a:ext cx="7500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6B"/>
                </a:solidFill>
              </a:rPr>
              <a:t>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607219" y="2973586"/>
            <a:ext cx="8817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Label Injection: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1488942" y="2973586"/>
            <a:ext cx="17669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SkyPilot tags pods with Task IDs.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428625" y="3246109"/>
            <a:ext cx="7500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6B"/>
                </a:solidFill>
              </a:rPr>
              <a:t>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607219" y="3219320"/>
            <a:ext cx="7031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Rewrite Tag: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607219" y="3219320"/>
            <a:ext cx="3031378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Fluent Bit extracts ID to create new routing tags.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28625" y="3651852"/>
            <a:ext cx="7500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6B"/>
                </a:solidFill>
              </a:rPr>
              <a:t>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607219" y="3625062"/>
            <a:ext cx="10297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Dynamic Streams: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07219" y="3625062"/>
            <a:ext cx="2993175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CloudWatch streams named by Task ID.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428625" y="4243332"/>
            <a:ext cx="3314700" cy="494314"/>
          </a:xfrm>
          <a:prstGeom prst="rect">
            <a:avLst/>
          </a:prstGeom>
          <a:solidFill>
            <a:srgbClr val="1A237E">
              <a:alpha val="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4243332"/>
            <a:ext cx="28575" cy="49431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2" name="Text 19"/>
          <p:cNvSpPr/>
          <p:nvPr/>
        </p:nvSpPr>
        <p:spPr>
          <a:xfrm>
            <a:off x="535781" y="4350488"/>
            <a:ext cx="31003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Spot Reliability: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 Node Termination Handler triggers "Last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Gasp" log flush to S3 before instance reclamation.</a:t>
            </a:r>
            <a:endParaRPr lang="en-US" sz="683" dirty="0"/>
          </a:p>
        </p:txBody>
      </p:sp>
      <p:sp>
        <p:nvSpPr>
          <p:cNvPr id="23" name="Shape 20"/>
          <p:cNvSpPr/>
          <p:nvPr/>
        </p:nvSpPr>
        <p:spPr>
          <a:xfrm>
            <a:off x="4157663" y="1414463"/>
            <a:ext cx="4557713" cy="3323183"/>
          </a:xfrm>
          <a:prstGeom prst="rect">
            <a:avLst/>
          </a:prstGeom>
          <a:solidFill>
            <a:srgbClr val="FAFAFA"/>
          </a:solidFill>
          <a:ln w="9144">
            <a:solidFill>
              <a:srgbClr val="BDC3C7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7558255" y="1485900"/>
            <a:ext cx="10856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5A5A6"/>
                </a:solidFill>
              </a:rPr>
              <a:t>Log Rewrite Pipeline</a:t>
            </a:r>
            <a:endParaRPr lang="en-US" sz="621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029" y="2998366"/>
            <a:ext cx="1770980" cy="155377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428625" y="4951958"/>
            <a:ext cx="8286750" cy="266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428625" y="4951958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4"/>
          <p:cNvSpPr/>
          <p:nvPr/>
        </p:nvSpPr>
        <p:spPr>
          <a:xfrm>
            <a:off x="428625" y="5094833"/>
            <a:ext cx="16415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High-Performance Compute-as-a-Service</a:t>
            </a:r>
            <a:endParaRPr lang="en-US" sz="621" dirty="0"/>
          </a:p>
        </p:txBody>
      </p:sp>
      <p:sp>
        <p:nvSpPr>
          <p:cNvPr id="29" name="Text 25"/>
          <p:cNvSpPr/>
          <p:nvPr/>
        </p:nvSpPr>
        <p:spPr>
          <a:xfrm>
            <a:off x="8451670" y="5094833"/>
            <a:ext cx="2637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Slide 8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2391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7152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237E"/>
                </a:solidFill>
              </a:rPr>
              <a:t>Image Vending: SOCI Lazy Loading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66192"/>
            <a:ext cx="8072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Eliminating the "Silent Killer" of Interactivity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1414463"/>
            <a:ext cx="3314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5A5A6"/>
                </a:solidFill>
              </a:rPr>
              <a:t>The Problem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28625" y="1621631"/>
            <a:ext cx="33147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Pulling 15GB+ deep learning images takes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5-10 minutes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, destroying the interactive feel of the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platform.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2564606"/>
            <a:ext cx="3314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5A5A6"/>
                </a:solidFill>
              </a:rPr>
              <a:t>The Solution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28625" y="2800350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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07219" y="2773561"/>
            <a:ext cx="8727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Lazy Loading: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607219" y="2773561"/>
            <a:ext cx="3049600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37E"/>
                </a:solidFill>
              </a:rPr>
              <a:t>Start application immediately; fetch blocks on demand.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28625" y="3267540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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607219" y="3240751"/>
            <a:ext cx="9707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NVMe Caching: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607219" y="3240751"/>
            <a:ext cx="2843994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37E"/>
                </a:solidFill>
              </a:rPr>
              <a:t>Cache fetched blocks locally to mitigate FUSE overhead.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28625" y="3920468"/>
            <a:ext cx="3314700" cy="62865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" y="4063343"/>
            <a:ext cx="911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6B6B"/>
                </a:solidFill>
              </a:rPr>
              <a:t>50%+</a:t>
            </a:r>
            <a:endParaRPr lang="en-US" sz="2436" dirty="0"/>
          </a:p>
        </p:txBody>
      </p:sp>
      <p:sp>
        <p:nvSpPr>
          <p:cNvPr id="18" name="Text 15"/>
          <p:cNvSpPr/>
          <p:nvPr/>
        </p:nvSpPr>
        <p:spPr>
          <a:xfrm>
            <a:off x="2759636" y="4086225"/>
            <a:ext cx="840814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Reduction in</a:t>
            </a:r>
            <a:pPr algn="r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
</a:t>
            </a:r>
            <a:pPr algn="r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Startup Latency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4157663" y="1414463"/>
            <a:ext cx="4557713" cy="3514725"/>
          </a:xfrm>
          <a:prstGeom prst="rect">
            <a:avLst/>
          </a:prstGeom>
          <a:solidFill>
            <a:srgbClr val="FAFAFA"/>
          </a:solidFill>
          <a:ln w="9144">
            <a:solidFill>
              <a:srgbClr val="BDC3C7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7345589" y="1485900"/>
            <a:ext cx="12983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5A5A6"/>
                </a:solidFill>
              </a:rPr>
              <a:t>SOCI Loading Mechanism</a:t>
            </a:r>
            <a:endParaRPr lang="en-US" sz="621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392" y="1557338"/>
            <a:ext cx="3618254" cy="321468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28625" y="5129213"/>
            <a:ext cx="8286750" cy="266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428625" y="5129213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0"/>
          <p:cNvSpPr/>
          <p:nvPr/>
        </p:nvSpPr>
        <p:spPr>
          <a:xfrm>
            <a:off x="428625" y="5272088"/>
            <a:ext cx="16415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High-Performance Compute-as-a-Service</a:t>
            </a:r>
            <a:endParaRPr lang="en-US" sz="621" dirty="0"/>
          </a:p>
        </p:txBody>
      </p:sp>
      <p:sp>
        <p:nvSpPr>
          <p:cNvPr id="25" name="Text 21"/>
          <p:cNvSpPr/>
          <p:nvPr/>
        </p:nvSpPr>
        <p:spPr>
          <a:xfrm>
            <a:off x="8451670" y="5272088"/>
            <a:ext cx="2637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Slide 9</a:t>
            </a:r>
            <a:endParaRPr lang="en-US" sz="62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041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7152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237E"/>
                </a:solidFill>
              </a:rPr>
              <a:t>Failure Handling: Spot Recovery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66192"/>
            <a:ext cx="8072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Graceful Interruption Handling with SIGTERM and MOUNT_CACHED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1414463"/>
            <a:ext cx="1158794" cy="20538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6B6B"/>
                </a:solidFill>
              </a:rPr>
              <a:t>The Critical Gap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28625" y="1676995"/>
            <a:ext cx="3314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Default ML scripts ignore SIGTERM. When the 2-minute spot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warning expires,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C0392B"/>
                </a:solidFill>
              </a:rPr>
              <a:t>SIGKILL destroys all progress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 since the last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checkpoint.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28625" y="2369939"/>
            <a:ext cx="938426" cy="20538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A237E"/>
                </a:solidFill>
              </a:rPr>
              <a:t>The Solution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28625" y="2632472"/>
            <a:ext cx="3314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Catch SIGTERM and trigger an emergency checkpoint to local NVMe.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428625" y="3011091"/>
            <a:ext cx="3314700" cy="91431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3011091"/>
            <a:ext cx="28575" cy="914316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3011091"/>
            <a:ext cx="3314700" cy="91431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def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35400"/>
                </a:solidFill>
              </a:rPr>
              <a:t>graceful_exit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(signum, frame):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35400"/>
                </a:solidFill>
              </a:rPr>
              <a:t>save_checkpoint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() </a:t>
            </a:r>
            <a:pPr algn="l" indent="0" marL="0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7F8C8D"/>
                </a:solidFill>
              </a:rPr>
              <a:t># Write to NVMe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sys.exit(0) </a:t>
            </a:r>
            <a:pPr algn="l" indent="0" marL="0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7F8C8D"/>
                </a:solidFill>
              </a:rPr>
              <a:t># Retry-able event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signal.signal(signal.SIGTERM, graceful_exit)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428625" y="4104001"/>
            <a:ext cx="3314700" cy="705445"/>
          </a:xfrm>
          <a:prstGeom prst="rect">
            <a:avLst/>
          </a:prstGeom>
          <a:solidFill>
            <a:srgbClr val="1A237E">
              <a:alpha val="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35781" y="4211157"/>
            <a:ext cx="31003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MOUNT_CACHED Advantage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535781" y="4402252"/>
            <a:ext cx="31003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Writes to local disk at GB/s immediately. Uploads to S3 asynchronously. Reduces "checkpoint tax" by 10x.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4157663" y="1414463"/>
            <a:ext cx="4557713" cy="3394983"/>
          </a:xfrm>
          <a:prstGeom prst="rect">
            <a:avLst/>
          </a:prstGeom>
          <a:solidFill>
            <a:srgbClr val="FAFAFA"/>
          </a:solidFill>
          <a:ln w="9144">
            <a:solidFill>
              <a:srgbClr val="BDC3C7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7140067" y="1485900"/>
            <a:ext cx="15038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5A5A6"/>
                </a:solidFill>
              </a:rPr>
              <a:t>Interruption Recovery Flow</a:t>
            </a:r>
            <a:endParaRPr lang="en-US" sz="621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112" y="3034252"/>
            <a:ext cx="1600786" cy="155377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28625" y="5023758"/>
            <a:ext cx="8286750" cy="266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428625" y="5023758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8"/>
          <p:cNvSpPr/>
          <p:nvPr/>
        </p:nvSpPr>
        <p:spPr>
          <a:xfrm>
            <a:off x="428625" y="5166633"/>
            <a:ext cx="16415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High-Performance Compute-as-a-Service</a:t>
            </a:r>
            <a:endParaRPr lang="en-US" sz="621" dirty="0"/>
          </a:p>
        </p:txBody>
      </p:sp>
      <p:sp>
        <p:nvSpPr>
          <p:cNvPr id="23" name="Text 19"/>
          <p:cNvSpPr/>
          <p:nvPr/>
        </p:nvSpPr>
        <p:spPr>
          <a:xfrm>
            <a:off x="8402641" y="5166633"/>
            <a:ext cx="3127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Slide 10</a:t>
            </a:r>
            <a:endParaRPr lang="en-US" sz="62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167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7152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237E"/>
                </a:solidFill>
              </a:rPr>
              <a:t>Karpenter Provisioning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66192"/>
            <a:ext cx="8072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Automated Node Configuration via User Data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1321594"/>
            <a:ext cx="171450" cy="17145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3215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counter(step-counter)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78656" y="1309092"/>
            <a:ext cx="1006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Job Submission: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678656" y="1309092"/>
            <a:ext cx="2645197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SkyPilot requests 8 GPUs + EFA.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28625" y="1738778"/>
            <a:ext cx="171450" cy="17145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2" name="Text 9"/>
          <p:cNvSpPr/>
          <p:nvPr/>
        </p:nvSpPr>
        <p:spPr>
          <a:xfrm>
            <a:off x="428625" y="173877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counter(step-counter)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678656" y="1726276"/>
            <a:ext cx="7199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Evaluation: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678656" y="1726276"/>
            <a:ext cx="2548756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Karpenter selects p5.48xlarge instance.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28625" y="2155961"/>
            <a:ext cx="171450" cy="17145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6" name="Text 13"/>
          <p:cNvSpPr/>
          <p:nvPr/>
        </p:nvSpPr>
        <p:spPr>
          <a:xfrm>
            <a:off x="428625" y="21559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counter(step-counter)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678656" y="2143460"/>
            <a:ext cx="5065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Launch: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678656" y="2143460"/>
            <a:ext cx="2359223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Instance boots with User Data script.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428625" y="2573145"/>
            <a:ext cx="171450" cy="17145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257314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counter(step-counter)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678656" y="2560644"/>
            <a:ext cx="80780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Attachment: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678656" y="2560644"/>
            <a:ext cx="2228571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FSx mounted, EFA ENIs attached.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28625" y="3118917"/>
            <a:ext cx="29003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5A5A6"/>
                </a:solidFill>
              </a:rPr>
              <a:t>Critical Automation: NVMe RAID0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428625" y="3297510"/>
            <a:ext cx="2900363" cy="12287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428625" y="3297510"/>
            <a:ext cx="28575" cy="122872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3"/>
          <p:cNvSpPr/>
          <p:nvPr/>
        </p:nvSpPr>
        <p:spPr>
          <a:xfrm>
            <a:off x="428625" y="3297510"/>
            <a:ext cx="2900363" cy="122872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i="1" dirty="0">
                <a:solidFill>
                  <a:srgbClr val="27AE60"/>
                </a:solidFill>
              </a:rPr>
              <a:t># NVMe RAID0 and kubelet restart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systemctl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 stop kubelet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devices=$(lsblk -dno NAME | grep nvme...)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mdadm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 --create /dev/md0 --level=0 ...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mount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 /dev/md0 /mnt/local-scratch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systemctl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 start kubelet
</a:t>
            </a:r>
            <a:pPr algn="l" indent="0" marL="0">
              <a:lnSpc>
                <a:spcPts val="1100"/>
              </a:lnSpc>
              <a:buNone/>
            </a:pPr>
            <a:endParaRPr lang="en-US" sz="674" dirty="0"/>
          </a:p>
        </p:txBody>
      </p:sp>
      <p:sp>
        <p:nvSpPr>
          <p:cNvPr id="27" name="Shape 24"/>
          <p:cNvSpPr/>
          <p:nvPr/>
        </p:nvSpPr>
        <p:spPr>
          <a:xfrm>
            <a:off x="3743325" y="1307306"/>
            <a:ext cx="4972050" cy="3514725"/>
          </a:xfrm>
          <a:prstGeom prst="rect">
            <a:avLst/>
          </a:prstGeom>
          <a:solidFill>
            <a:srgbClr val="FAFAFA"/>
          </a:solidFill>
          <a:ln w="9144">
            <a:solidFill>
              <a:srgbClr val="BDC3C7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7415994" y="1378744"/>
            <a:ext cx="12279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5A5A6"/>
                </a:solidFill>
              </a:rPr>
              <a:t>Provisioning Sequence</a:t>
            </a:r>
            <a:endParaRPr lang="en-US" sz="621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912" y="1450181"/>
            <a:ext cx="2270875" cy="3214688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28625" y="4914900"/>
            <a:ext cx="8286750" cy="208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428625" y="4914900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Text 28"/>
          <p:cNvSpPr/>
          <p:nvPr/>
        </p:nvSpPr>
        <p:spPr>
          <a:xfrm>
            <a:off x="428625" y="5000625"/>
            <a:ext cx="16415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High-Performance Compute-as-a-Service</a:t>
            </a:r>
            <a:endParaRPr lang="en-US" sz="621" dirty="0"/>
          </a:p>
        </p:txBody>
      </p:sp>
      <p:sp>
        <p:nvSpPr>
          <p:cNvPr id="33" name="Text 29"/>
          <p:cNvSpPr/>
          <p:nvPr/>
        </p:nvSpPr>
        <p:spPr>
          <a:xfrm>
            <a:off x="8402641" y="5000625"/>
            <a:ext cx="3127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Slide 11</a:t>
            </a:r>
            <a:endParaRPr lang="en-US" sz="62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5744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7152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237E"/>
                </a:solidFill>
              </a:rPr>
              <a:t>Decision Matrix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66192"/>
            <a:ext cx="8072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Ranked Architectural Choices for Researcher Experience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00075" y="1414463"/>
            <a:ext cx="27289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5A5A6"/>
                </a:solidFill>
              </a:rPr>
              <a:t>Guiding Principle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600075" y="1621631"/>
            <a:ext cx="2728913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"Default configurations favor operational simplicity. We invert this to maximize Researcher Experience."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428625" y="2787402"/>
            <a:ext cx="29003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5A5A6"/>
                </a:solidFill>
              </a:rPr>
              <a:t>Ranking Methodology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428625" y="2998143"/>
            <a:ext cx="571500" cy="17323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2998143"/>
            <a:ext cx="571500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Critical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1071563" y="2994571"/>
            <a:ext cx="22574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Prevents job failures or major bottlenecks (Storage)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28625" y="3416052"/>
            <a:ext cx="571500" cy="173236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3416052"/>
            <a:ext cx="571500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High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1071563" y="3412480"/>
            <a:ext cx="22574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Significantly improves performance (Network, Images)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428625" y="3833961"/>
            <a:ext cx="571500" cy="173236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17" name="Text 14"/>
          <p:cNvSpPr/>
          <p:nvPr/>
        </p:nvSpPr>
        <p:spPr>
          <a:xfrm>
            <a:off x="428625" y="3833961"/>
            <a:ext cx="571500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Medium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1071563" y="3830389"/>
            <a:ext cx="22574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Reduces debugging time or cost (Logs, Spot)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28625" y="4534049"/>
            <a:ext cx="2900363" cy="72866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i="1" dirty="0">
                <a:solidFill>
                  <a:srgbClr val="2C3E50"/>
                </a:solidFill>
              </a:rPr>
              <a:t>Implementing these patterns transforms the platform from a simple job scheduler into a true high-performance research accelerator.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3743325" y="1414463"/>
            <a:ext cx="4972050" cy="3848249"/>
          </a:xfrm>
          <a:prstGeom prst="rect">
            <a:avLst/>
          </a:prstGeom>
          <a:solidFill>
            <a:srgbClr val="FAFAFA"/>
          </a:solidFill>
          <a:ln w="9144">
            <a:solidFill>
              <a:srgbClr val="BDC3C7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7015944" y="1485900"/>
            <a:ext cx="16279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5A5A6"/>
                </a:solidFill>
              </a:rPr>
              <a:t>Architectural Decision Matrix</a:t>
            </a:r>
            <a:endParaRPr lang="en-US" sz="621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589" y="3260899"/>
            <a:ext cx="1439494" cy="155377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28625" y="5477024"/>
            <a:ext cx="8286750" cy="266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428625" y="5477024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Text 21"/>
          <p:cNvSpPr/>
          <p:nvPr/>
        </p:nvSpPr>
        <p:spPr>
          <a:xfrm>
            <a:off x="428625" y="5619899"/>
            <a:ext cx="16415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High-Performance Compute-as-a-Service</a:t>
            </a:r>
            <a:endParaRPr lang="en-US" sz="621" dirty="0"/>
          </a:p>
        </p:txBody>
      </p:sp>
      <p:sp>
        <p:nvSpPr>
          <p:cNvPr id="26" name="Text 22"/>
          <p:cNvSpPr/>
          <p:nvPr/>
        </p:nvSpPr>
        <p:spPr>
          <a:xfrm>
            <a:off x="8402641" y="5619899"/>
            <a:ext cx="3127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5A5A6"/>
                </a:solidFill>
              </a:rPr>
              <a:t>Slide 12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2025-12-05T20:54:18Z</dcterms:created>
  <dcterms:modified xsi:type="dcterms:W3CDTF">2025-12-05T20:54:18Z</dcterms:modified>
</cp:coreProperties>
</file>